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60" r:id="rId3"/>
    <p:sldId id="26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8" d="100"/>
          <a:sy n="88" d="100"/>
        </p:scale>
        <p:origin x="213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930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228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510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814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880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431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744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1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928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866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3546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4582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6340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8080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2583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1971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8276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1876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2313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2603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7620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7454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572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006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9E0110-3D53-56A3-B428-F22C9DFF8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C273218-B2DB-AB44-5DFE-A9CB98F2A8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>
            <a:fillRect/>
          </a:stretch>
        </p:blipFill>
        <p:spPr>
          <a:xfrm>
            <a:off x="20" y="0"/>
            <a:ext cx="12191980" cy="6856718"/>
          </a:xfrm>
          <a:prstGeom prst="rect">
            <a:avLst/>
          </a:prstGeom>
        </p:spPr>
      </p:pic>
      <p:pic>
        <p:nvPicPr>
          <p:cNvPr id="14" name="Content Placeholder 6">
            <a:extLst>
              <a:ext uri="{FF2B5EF4-FFF2-40B4-BE49-F238E27FC236}">
                <a16:creationId xmlns:a16="http://schemas.microsoft.com/office/drawing/2014/main" id="{DAC1E459-A0ED-D730-5E34-2662D85A746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346" b="34336"/>
          <a:stretch>
            <a:fillRect/>
          </a:stretch>
        </p:blipFill>
        <p:spPr>
          <a:xfrm>
            <a:off x="4504438" y="723899"/>
            <a:ext cx="3183124" cy="1028701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51E1DA9C-07E8-A7EE-F0F0-74A842D8366D}"/>
              </a:ext>
            </a:extLst>
          </p:cNvPr>
          <p:cNvSpPr txBox="1">
            <a:spLocks/>
          </p:cNvSpPr>
          <p:nvPr/>
        </p:nvSpPr>
        <p:spPr>
          <a:xfrm>
            <a:off x="4623106" y="1917655"/>
            <a:ext cx="2945788" cy="60602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2200" b="1">
                <a:solidFill>
                  <a:srgbClr val="14B8A6"/>
                </a:solidFill>
              </a:defRPr>
            </a:pPr>
            <a:r>
              <a:t>Case Study 4: Healthcare &amp; Life Sciences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47F9FFC-5CA4-1C83-5E38-8DBBC6652E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0112" y="2912065"/>
            <a:ext cx="6231775" cy="760059"/>
          </a:xfrm>
        </p:spPr>
        <p:txBody>
          <a:bodyPr>
            <a:no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OmniLabel AI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Enterprise Medical Device Label Change Intelligence Platform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BC4B1A3C-0B9F-3BDB-8C06-470AADE518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1627" y="3652835"/>
            <a:ext cx="6231775" cy="1128427"/>
          </a:xfrm>
        </p:spPr>
        <p:txBody>
          <a:bodyPr/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Eliminating Silent Scope Omission via Uncertainty-Aware Dual Discovery &amp; 21 CFR Part 11 Audit Ledger</a:t>
            </a:r>
          </a:p>
          <a:p>
            <a:pPr>
              <a:defRPr sz="1400">
                <a:solidFill>
                  <a:srgbClr val="CBD5E1"/>
                </a:solidFill>
              </a:defRPr>
            </a:pP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Team Leader: Ashwin Kumar (Lead AI &amp; Systems Engineer)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Competition: Tata Elxsi TELEPORT Season 4</a:t>
            </a:r>
          </a:p>
        </p:txBody>
      </p:sp>
    </p:spTree>
    <p:extLst>
      <p:ext uri="{BB962C8B-B14F-4D97-AF65-F5344CB8AC3E}">
        <p14:creationId xmlns:p14="http://schemas.microsoft.com/office/powerpoint/2010/main" val="4002182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EA7B0-D290-F374-CB83-A8971125B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714" y="898058"/>
            <a:ext cx="10515600" cy="1325563"/>
          </a:xfrm>
        </p:spPr>
        <p:txBody>
          <a:bodyPr/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OmniLabel AI: Enterprise Medical Device Label Change Intelligence</a:t>
            </a:r>
          </a:p>
          <a:p>
            <a:pPr>
              <a:defRPr sz="1050" b="0">
                <a:solidFill>
                  <a:srgbClr val="0F766E"/>
                </a:solidFill>
              </a:defRPr>
            </a:pPr>
            <a:r>
              <a:t>Eliminating Silent Scope Omission in Engineering Changes • 21 CFR Part 11 Audit Trail • 43/43 Passing Tests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CF1BD9-4BA1-4C00-F20D-6F87E11B1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7714" y="2358558"/>
            <a:ext cx="10515600" cy="4351338"/>
          </a:xfrm>
        </p:spPr>
        <p:txBody>
          <a:bodyPr/>
          <a:lstStyle/>
          <a:p/>
        </p:txBody>
      </p:sp>
      <p:pic>
        <p:nvPicPr>
          <p:cNvPr id="5" name="Picture 2" descr="od-banner">
            <a:extLst>
              <a:ext uri="{FF2B5EF4-FFF2-40B4-BE49-F238E27FC236}">
                <a16:creationId xmlns:a16="http://schemas.microsoft.com/office/drawing/2014/main" id="{F4826D9E-742D-0A39-8864-4C7889B0DC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1341" y="89039"/>
            <a:ext cx="803547" cy="567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27886EE-DB1A-217A-4691-1FAE55869F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346" b="34336"/>
          <a:stretch>
            <a:fillRect/>
          </a:stretch>
        </p:blipFill>
        <p:spPr>
          <a:xfrm>
            <a:off x="0" y="14083"/>
            <a:ext cx="2361332" cy="763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1600200"/>
            <a:ext cx="2514600" cy="21945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09728" bIns="109728"/>
          <a:lstStyle/>
          <a:p>
            <a:pPr algn="ctr">
              <a:defRPr sz="1150" b="1">
                <a:solidFill>
                  <a:srgbClr val="E11D48"/>
                </a:solidFill>
              </a:defRPr>
            </a:pPr>
            <a:r>
              <a:t>The Crisis: Silent Scope Omission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</a:defRPr>
            </a:pPr>
            <a:r>
              <a:t>• Engineering Change Orders (ECO): Extending sterile shelf life (24m → 36m) requires updating all global packaging.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</a:defRPr>
            </a:pPr>
            <a:r>
              <a:t>• Broken PLM/ERP Links: Severed digital threads silently omit unlinked secondary &amp; regional labels.</a:t>
            </a:r>
          </a:p>
          <a:p>
            <a:pPr>
              <a:spcBef>
                <a:spcPts val="300"/>
              </a:spcBef>
              <a:defRPr sz="900">
                <a:solidFill>
                  <a:srgbClr val="1E293B"/>
                </a:solidFill>
              </a:defRPr>
            </a:pPr>
            <a:r>
              <a:t>• Catastrophic Risk: Obsolete labels printed → FDA Class II recalls, 483 warnings, hospital quarantine.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86200"/>
            <a:ext cx="2514600" cy="1965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09728" bIns="109728"/>
          <a:lstStyle/>
          <a:p>
            <a:pPr algn="ctr">
              <a:defRPr sz="1150" b="1">
                <a:solidFill>
                  <a:srgbClr val="0F766E"/>
                </a:solidFill>
              </a:defRPr>
            </a:pPr>
            <a:r>
              <a:t>The Tripartite Operating Principle</a:t>
            </a:r>
          </a:p>
          <a:p>
            <a:pPr>
              <a:spcBef>
                <a:spcPts val="300"/>
              </a:spcBef>
            </a:pPr>
            <a:r>
              <a:rPr b="1" sz="850">
                <a:solidFill>
                  <a:srgbClr val="0F172A"/>
                </a:solidFill>
              </a:rPr>
              <a:t>• Probabilistic AI Extracts: </a:t>
            </a:r>
            <a:r>
              <a:rPr sz="850">
                <a:solidFill>
                  <a:srgbClr val="1E293B"/>
                </a:solidFill>
              </a:rPr>
              <a:t>Bounded spans + SHA-256 raw text provenance.</a:t>
            </a:r>
          </a:p>
          <a:p>
            <a:pPr>
              <a:spcBef>
                <a:spcPts val="300"/>
              </a:spcBef>
            </a:pPr>
            <a:r>
              <a:rPr b="1" sz="850">
                <a:solidFill>
                  <a:srgbClr val="0F172A"/>
                </a:solidFill>
              </a:rPr>
              <a:t>• Deterministic Rules Decide: </a:t>
            </a:r>
            <a:r>
              <a:rPr sz="850">
                <a:solidFill>
                  <a:srgbClr val="1E293B"/>
                </a:solidFill>
              </a:rPr>
              <a:t>GS1 Mod-10 checksum math + ISO 15223-1 symbols + Jinja2 SVG (Zero Hallucination).</a:t>
            </a:r>
          </a:p>
          <a:p>
            <a:pPr>
              <a:spcBef>
                <a:spcPts val="300"/>
              </a:spcBef>
            </a:pPr>
            <a:r>
              <a:rPr b="1" sz="850">
                <a:solidFill>
                  <a:srgbClr val="0F172A"/>
                </a:solidFill>
              </a:rPr>
              <a:t>• Qualified Humans Sign: </a:t>
            </a:r>
            <a:r>
              <a:rPr sz="850">
                <a:solidFill>
                  <a:srgbClr val="1E293B"/>
                </a:solidFill>
              </a:rPr>
              <a:t>Safe Scope Gate blocks releases until all candidates triaged + 21 CFR 11 e-signatures.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600200"/>
            <a:ext cx="2971800" cy="4251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09728" bIns="109728"/>
          <a:lstStyle/>
          <a:p>
            <a:pPr algn="ctr">
              <a:defRPr sz="1200" b="1">
                <a:solidFill>
                  <a:srgbClr val="0284C7"/>
                </a:solidFill>
              </a:defRPr>
            </a:pPr>
            <a:r>
              <a:t>End-to-End 5-Stage Clinical Pipeline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▸ 1. Intake &amp; Provenance: Bounded character spans &amp; SHA-256 raw text hash.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▸ 2. Dual Discovery: Forward thread traversal + Heuristic inverse catalog scan.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▸ 3. Safe Scope Gate: Hard regulatory hold blocks release until human triage.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▸ 4. Controlled SVG Drafting: Zero-hallucination Jinja2 vector parameterization.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▸ 5. Rules &amp; CV Verification: GS1 Mod-10, ISO symbols, and OpenCV pixel delta.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▸ 6. 21 CFR Part 11 Audit: SHA-256 forward hash-chain ledger &amp; dual e-signature.</a:t>
            </a:r>
          </a:p>
        </p:txBody>
      </p:sp>
      <p:pic>
        <p:nvPicPr>
          <p:cNvPr id="11" name="Picture 10" descr="thumb_stage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3520440"/>
            <a:ext cx="2788920" cy="156876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400800" y="1600200"/>
            <a:ext cx="2606040" cy="21945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09728" bIns="109728"/>
          <a:lstStyle/>
          <a:p>
            <a:pPr algn="ctr">
              <a:defRPr sz="1150" b="1">
                <a:solidFill>
                  <a:srgbClr val="7E22CE"/>
                </a:solidFill>
              </a:defRPr>
            </a:pPr>
            <a:r>
              <a:t>Deterministic Math &amp; Algorithms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0F172A"/>
                </a:solidFill>
              </a:rPr>
              <a:t>• GS1 GTIN-14 Mod-10 Math: </a:t>
            </a:r>
            <a:r>
              <a:rPr sz="800">
                <a:solidFill>
                  <a:srgbClr val="1E293B"/>
                </a:solidFill>
              </a:rPr>
              <a:t>S = Σ(D_i × w_i), D_14 = (10-(S mod 10)) mod 10. Rejects invalid barcodes instantly.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0F172A"/>
                </a:solidFill>
              </a:rPr>
              <a:t>• Inverse Heuristic Scoring: </a:t>
            </a:r>
            <a:r>
              <a:rPr sz="800">
                <a:solidFill>
                  <a:srgbClr val="1E293B"/>
                </a:solidFill>
              </a:rPr>
              <a:t>Score(k,F) = 0.40(Fam) + 0.25(Sterile) + 0.20(Life) + 0.15(Jaccard). Flags cutoff ≥ 0.65.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0F172A"/>
                </a:solidFill>
              </a:rPr>
              <a:t>• SHA-256 Recursive Ledger: </a:t>
            </a:r>
            <a:r>
              <a:rPr sz="800">
                <a:solidFill>
                  <a:srgbClr val="1E293B"/>
                </a:solidFill>
              </a:rPr>
              <a:t>H_n = SHA-256(H_{n-1} || Event_n || Payload_n). Cryptographically tamper-evident.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0F172A"/>
                </a:solidFill>
              </a:rPr>
              <a:t>• OpenCV Computer Vision: </a:t>
            </a:r>
            <a:r>
              <a:rPr sz="800">
                <a:solidFill>
                  <a:srgbClr val="1E293B"/>
                </a:solidFill>
              </a:rPr>
              <a:t>Sub-pixel image registration &amp; contour heatmaps.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886200"/>
            <a:ext cx="2606040" cy="1965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09728" bIns="109728"/>
          <a:lstStyle/>
          <a:p>
            <a:pPr algn="ctr">
              <a:defRPr sz="1150" b="1">
                <a:solidFill>
                  <a:srgbClr val="0F766E"/>
                </a:solidFill>
              </a:defRPr>
            </a:pPr>
            <a:r>
              <a:t>Regulatory Compliance Matrix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0F172A"/>
                </a:solidFill>
              </a:rPr>
              <a:t>• FDA 21 CFR Part 11: </a:t>
            </a:r>
            <a:r>
              <a:rPr sz="800">
                <a:solidFill>
                  <a:srgbClr val="1E293B"/>
                </a:solidFill>
              </a:rPr>
              <a:t>§11.10 closed system controls + §11.50 intent-bearing electronic signatures.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0F172A"/>
                </a:solidFill>
              </a:rPr>
              <a:t>• FDA 21 CFR Part 820: </a:t>
            </a:r>
            <a:r>
              <a:rPr sz="800">
                <a:solidFill>
                  <a:srgbClr val="1E293B"/>
                </a:solidFill>
              </a:rPr>
              <a:t>§820.30/120 labeling controls; eliminates silent scope omission.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0F172A"/>
                </a:solidFill>
              </a:rPr>
              <a:t>• EU MDR 2017/745: </a:t>
            </a:r>
            <a:r>
              <a:rPr sz="800">
                <a:solidFill>
                  <a:srgbClr val="1E293B"/>
                </a:solidFill>
              </a:rPr>
              <a:t>Annex I safety requirements, expiry arithmetic &amp; GS1 UDI traceability.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0F172A"/>
                </a:solidFill>
              </a:rPr>
              <a:t>• ISO 15223-1:2021: </a:t>
            </a:r>
            <a:r>
              <a:rPr sz="800">
                <a:solidFill>
                  <a:srgbClr val="1E293B"/>
                </a:solidFill>
              </a:rPr>
              <a:t>Symbol 5.2.3 (Sterile), 5.4.2 (Single-use), 5.1.4 (Expiry) vector geometry checks.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1600200"/>
            <a:ext cx="2377440" cy="21945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09728" bIns="109728"/>
          <a:lstStyle/>
          <a:p>
            <a:pPr algn="ctr">
              <a:defRPr sz="1150" b="1">
                <a:solidFill>
                  <a:srgbClr val="10B981"/>
                </a:solidFill>
              </a:defRPr>
            </a:pPr>
            <a:r>
              <a:t>43 / 43 Automated Pytest Suite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✔ 100% Pass Rate: 43 unit, integration &amp; failure-mode stress tests in 3.44s.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✔ Negative Stress Testing: Rejects corrupted GTINs &amp; blocks scope gate bypass.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✔ Tamper Detection: Traps direct SQLite modifications with exact block #.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✔ GitHub CI/CD: Automated multi-stage pipeline (✓ 3/3 green checkmarks).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3886200"/>
            <a:ext cx="2377440" cy="1965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09728" bIns="109728"/>
          <a:lstStyle/>
          <a:p>
            <a:pPr algn="ctr">
              <a:defRPr sz="1150" b="1">
                <a:solidFill>
                  <a:srgbClr val="0F766E"/>
                </a:solidFill>
              </a:defRPr>
            </a:pPr>
            <a:r>
              <a:t>Business ROI &amp; Integration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0F172A"/>
                </a:solidFill>
              </a:rPr>
              <a:t>• 100% Risk Elimination: </a:t>
            </a:r>
            <a:r>
              <a:rPr sz="800">
                <a:solidFill>
                  <a:srgbClr val="1E293B"/>
                </a:solidFill>
              </a:rPr>
              <a:t>Zero unreviewed labels reach hospitals; avoids Class II recalls.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0F172A"/>
                </a:solidFill>
              </a:rPr>
              <a:t>• 85% Time Savings: </a:t>
            </a:r>
            <a:r>
              <a:rPr sz="800">
                <a:solidFill>
                  <a:srgbClr val="1E293B"/>
                </a:solidFill>
              </a:rPr>
              <a:t>Shrinks ECO packaging review from weeks to minutes.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0F172A"/>
                </a:solidFill>
              </a:rPr>
              <a:t>• Enterprise PLM Ready: </a:t>
            </a:r>
            <a:r>
              <a:rPr sz="800">
                <a:solidFill>
                  <a:srgbClr val="1E293B"/>
                </a:solidFill>
              </a:rPr>
              <a:t>FastAPI microservice connects to Siemens Teamcenter, Windchill, &amp; SAP.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0F172A"/>
                </a:solidFill>
              </a:rPr>
              <a:t>• Production Packaging: </a:t>
            </a:r>
            <a:r>
              <a:rPr sz="800">
                <a:solidFill>
                  <a:srgbClr val="1E293B"/>
                </a:solidFill>
              </a:rPr>
              <a:t>Dockerized + React SaaS + 1080p demo walkthrough.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925312"/>
            <a:ext cx="10744200" cy="411480"/>
          </a:xfrm>
          <a:prstGeom prst="roundRect">
            <a:avLst/>
          </a:prstGeom>
          <a:solidFill>
            <a:srgbClr val="0F172A"/>
          </a:solidFill>
          <a:ln w="1397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Team Leader: Ashwin Kumar  |  Project: OmniLabel AI  |  GitHub: https://github.com/Ashwinkumar-k10/omnilabel-ai  |  Release: v1.0.0  |  All 43 Tests Passing</a:t>
            </a:r>
          </a:p>
        </p:txBody>
      </p:sp>
    </p:spTree>
    <p:extLst>
      <p:ext uri="{BB962C8B-B14F-4D97-AF65-F5344CB8AC3E}">
        <p14:creationId xmlns:p14="http://schemas.microsoft.com/office/powerpoint/2010/main" val="70764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6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Custom Design</vt:lpstr>
      <vt:lpstr>Team Details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Aaquib Jawaid</dc:creator>
  <cp:lastModifiedBy>Fatima Ameer</cp:lastModifiedBy>
  <cp:revision>7</cp:revision>
  <dcterms:created xsi:type="dcterms:W3CDTF">2024-10-25T17:59:13Z</dcterms:created>
  <dcterms:modified xsi:type="dcterms:W3CDTF">2026-09-23T11:32:25Z</dcterms:modified>
</cp:coreProperties>
</file>