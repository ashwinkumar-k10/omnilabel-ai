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14" y="898058"/>
            <a:ext cx="10515600" cy="1325563"/>
          </a:xfrm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OmniLabel AI: Enterprise Medical Device Label Change Intelligence</a:t>
            </a:r>
          </a:p>
          <a:p>
            <a:pPr>
              <a:defRPr sz="1050" b="0">
                <a:solidFill>
                  <a:srgbClr val="0F766E"/>
                </a:solidFill>
              </a:defRPr>
            </a:pPr>
            <a:r>
              <a:t>Eliminating Silent Scope Omission in Engineering Changes • 21 CFR Part 11 Audit Trail • 43/43 Passing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1BD9-4BA1-4C00-F20D-6F87E11B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714" y="2358558"/>
            <a:ext cx="10515600" cy="4351338"/>
          </a:xfrm>
        </p:spPr>
        <p:txBody>
          <a:bodyPr/>
          <a:lstStyle/>
          <a:p/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25146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E11D48"/>
                </a:solidFill>
              </a:defRPr>
            </a:pPr>
            <a:r>
              <a:t>The Crisis: Silent Scope Omission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Engineering Change Orders (ECO): Extending sterile shelf life (24m → 36m) requires updating all global packaging.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Broken PLM/ERP Links: Severed digital threads silently omit unlinked secondary &amp; regional labels.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Catastrophic Risk: Obsolete labels printed → FDA Class II recalls, 483 warnings, hospital quarantine.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146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The Tripartite Operating Principle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Probabilistic AI Extracts: </a:t>
            </a:r>
            <a:r>
              <a:rPr sz="850">
                <a:solidFill>
                  <a:srgbClr val="1E293B"/>
                </a:solidFill>
              </a:rPr>
              <a:t>Bounded spans + SHA-256 raw text provenance.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Deterministic Rules Decide: </a:t>
            </a:r>
            <a:r>
              <a:rPr sz="850">
                <a:solidFill>
                  <a:srgbClr val="1E293B"/>
                </a:solidFill>
              </a:rPr>
              <a:t>GS1 Mod-10 checksum math + ISO 15223-1 symbols + Jinja2 SVG (Zero Hallucination).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Qualified Humans Sign: </a:t>
            </a:r>
            <a:r>
              <a:rPr sz="850">
                <a:solidFill>
                  <a:srgbClr val="1E293B"/>
                </a:solidFill>
              </a:rPr>
              <a:t>Safe Scope Gate blocks releases until all candidates triaged + 21 CFR 11 e-signatures.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00200"/>
            <a:ext cx="2971800" cy="4251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End-to-End 5-Stage Clinical Pipeline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1. Intake &amp; Provenance: Bounded character spans &amp; SHA-256 raw text hash.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2. Dual Discovery: Forward thread traversal + Heuristic inverse catalog scan.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3. Safe Scope Gate: Hard regulatory hold blocks release until human triage.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4. Controlled SVG Drafting: Zero-hallucination Jinja2 vector parameterization.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5. Rules &amp; CV Verification: GS1 Mod-10, ISO symbols, and OpenCV pixel delta.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6. 21 CFR Part 11 Audit: SHA-256 forward hash-chain ledger &amp; dual e-signature.</a:t>
            </a:r>
          </a:p>
        </p:txBody>
      </p:sp>
      <p:pic>
        <p:nvPicPr>
          <p:cNvPr id="11" name="Picture 10" descr="thumb_st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520440"/>
            <a:ext cx="2788920" cy="15687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1600200"/>
            <a:ext cx="260604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7E22CE"/>
                </a:solidFill>
              </a:defRPr>
            </a:pPr>
            <a:r>
              <a:t>Deterministic Math &amp; Algorithms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GS1 GTIN-14 Mod-10 Math: </a:t>
            </a:r>
            <a:r>
              <a:rPr sz="800">
                <a:solidFill>
                  <a:srgbClr val="1E293B"/>
                </a:solidFill>
              </a:rPr>
              <a:t>S = Σ(D_i × w_i), D_14 = (10-(S mod 10)) mod 10. Rejects invalid barcodes instantly.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Inverse Heuristic Scoring: </a:t>
            </a:r>
            <a:r>
              <a:rPr sz="800">
                <a:solidFill>
                  <a:srgbClr val="1E293B"/>
                </a:solidFill>
              </a:rPr>
              <a:t>Score(k,F) = 0.40(Fam) + 0.25(Sterile) + 0.20(Life) + 0.15(Jaccard). Flags cutoff ≥ 0.65.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SHA-256 Recursive Ledger: </a:t>
            </a:r>
            <a:r>
              <a:rPr sz="800">
                <a:solidFill>
                  <a:srgbClr val="1E293B"/>
                </a:solidFill>
              </a:rPr>
              <a:t>H_n = SHA-256(H_{n-1} || Event_n || Payload_n). Cryptographically tamper-evident.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OpenCV Computer Vision: </a:t>
            </a:r>
            <a:r>
              <a:rPr sz="800">
                <a:solidFill>
                  <a:srgbClr val="1E293B"/>
                </a:solidFill>
              </a:rPr>
              <a:t>Sub-pixel image registration &amp; contour heatmaps.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260604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Regulatory Compliance Matrix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FDA 21 CFR Part 11: </a:t>
            </a:r>
            <a:r>
              <a:rPr sz="800">
                <a:solidFill>
                  <a:srgbClr val="1E293B"/>
                </a:solidFill>
              </a:rPr>
              <a:t>§11.10 closed system controls + §11.50 intent-bearing electronic signatures.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FDA 21 CFR Part 820: </a:t>
            </a:r>
            <a:r>
              <a:rPr sz="800">
                <a:solidFill>
                  <a:srgbClr val="1E293B"/>
                </a:solidFill>
              </a:rPr>
              <a:t>§820.30/120 labeling controls; eliminates silent scope omission.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EU MDR 2017/745: </a:t>
            </a:r>
            <a:r>
              <a:rPr sz="800">
                <a:solidFill>
                  <a:srgbClr val="1E293B"/>
                </a:solidFill>
              </a:rPr>
              <a:t>Annex I safety requirements, expiry arithmetic &amp; GS1 UDI traceability.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ISO 15223-1:2021: </a:t>
            </a:r>
            <a:r>
              <a:rPr sz="800">
                <a:solidFill>
                  <a:srgbClr val="1E293B"/>
                </a:solidFill>
              </a:rPr>
              <a:t>Symbol 5.2.3 (Sterile), 5.4.2 (Single-use), 5.1.4 (Expiry) vector geometry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600200"/>
            <a:ext cx="237744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43 / 43 Automated Pytest Suite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100% Pass Rate: 43 unit, integration &amp; failure-mode stress tests in 3.44s.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Negative Stress Testing: Rejects corrupted GTINs &amp; blocks scope gate bypass.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Tamper Detection: Traps direct SQLite modifications with exact block #.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GitHub CI/CD: Automated multi-stage pipeline (✓ 3/3 green checkmarks).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886200"/>
            <a:ext cx="237744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Business ROI &amp; Integration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100% Risk Elimination: </a:t>
            </a:r>
            <a:r>
              <a:rPr sz="800">
                <a:solidFill>
                  <a:srgbClr val="1E293B"/>
                </a:solidFill>
              </a:rPr>
              <a:t>Zero unreviewed labels reach hospitals; avoids Class II recalls.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85% Time Savings: </a:t>
            </a:r>
            <a:r>
              <a:rPr sz="800">
                <a:solidFill>
                  <a:srgbClr val="1E293B"/>
                </a:solidFill>
              </a:rPr>
              <a:t>Shrinks ECO packaging review from weeks to minutes.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Enterprise PLM Ready: </a:t>
            </a:r>
            <a:r>
              <a:rPr sz="800">
                <a:solidFill>
                  <a:srgbClr val="1E293B"/>
                </a:solidFill>
              </a:rPr>
              <a:t>FastAPI microservice connects to Siemens Teamcenter, Windchill, &amp; SAP.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Production Packaging: </a:t>
            </a:r>
            <a:r>
              <a:rPr sz="800">
                <a:solidFill>
                  <a:srgbClr val="1E293B"/>
                </a:solidFill>
              </a:rPr>
              <a:t>Dockerized + React SaaS + 1080p demo walkthrough.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25312"/>
            <a:ext cx="10744200" cy="411480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Team Leader: Ashwin Kumar  |  Project: OmniLabel AI  |  GitHub: https://github.com/Ashwinkumar-k10/omnilabel-ai  |  Release: v1.0.0  |  All 43 Tests Passing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